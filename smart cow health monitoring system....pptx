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0" r:id="rId2"/>
    <p:sldId id="257" r:id="rId3"/>
    <p:sldId id="264" r:id="rId4"/>
    <p:sldId id="271" r:id="rId5"/>
    <p:sldId id="260" r:id="rId6"/>
    <p:sldId id="272" r:id="rId7"/>
    <p:sldId id="263" r:id="rId8"/>
    <p:sldId id="274" r:id="rId9"/>
    <p:sldId id="265" r:id="rId10"/>
    <p:sldId id="266"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EC34B-D856-4671-AED1-2BBA368FD195}"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52780-5981-4681-97F6-C1839061AB8A}" type="slidenum">
              <a:rPr lang="en-IN" smtClean="0"/>
              <a:t>‹#›</a:t>
            </a:fld>
            <a:endParaRPr lang="en-IN"/>
          </a:p>
        </p:txBody>
      </p:sp>
    </p:spTree>
    <p:extLst>
      <p:ext uri="{BB962C8B-B14F-4D97-AF65-F5344CB8AC3E}">
        <p14:creationId xmlns:p14="http://schemas.microsoft.com/office/powerpoint/2010/main" val="3352353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8739-B8A7-A179-23B0-1657403C77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CBA0F1-3896-04ED-931A-1B55EDEF23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2CAC24-1D7F-8B94-01A9-541B60DE5453}"/>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5" name="Footer Placeholder 4">
            <a:extLst>
              <a:ext uri="{FF2B5EF4-FFF2-40B4-BE49-F238E27FC236}">
                <a16:creationId xmlns:a16="http://schemas.microsoft.com/office/drawing/2014/main" id="{12717835-AC81-2F36-CDB3-9353A2D756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3E0677-0367-EF97-BD80-53B0E44A4F6D}"/>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3009339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F8BA-32D4-98F3-1F9D-3731492684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AD7A47-CC32-C740-B466-E37423ED97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54FE75-1425-FE57-F285-EF3377D413DE}"/>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5" name="Footer Placeholder 4">
            <a:extLst>
              <a:ext uri="{FF2B5EF4-FFF2-40B4-BE49-F238E27FC236}">
                <a16:creationId xmlns:a16="http://schemas.microsoft.com/office/drawing/2014/main" id="{D1FCE2C4-1CB4-A62B-3F63-708C7E9F82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9AD133-45D1-3B0C-BA72-715724B00F26}"/>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2179857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AAD6F-9BFD-A630-2E17-784D9B5AA6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58B54D-3D41-E8D5-F44E-57A93C985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C1CB0F-FC34-26F5-FE0F-8302E881DF86}"/>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5" name="Footer Placeholder 4">
            <a:extLst>
              <a:ext uri="{FF2B5EF4-FFF2-40B4-BE49-F238E27FC236}">
                <a16:creationId xmlns:a16="http://schemas.microsoft.com/office/drawing/2014/main" id="{3699F094-6F5D-9292-E673-984B48CF95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871C2D-2A72-52EC-0B87-A13DC5CE007D}"/>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1014520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12805-32AB-40A4-EB35-3027416D12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315988-F8E9-91DB-DECF-9671AA77D9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9579E7-F822-760F-A239-21C2070ECF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2A733C-9C61-1206-F420-1A00F1B61854}"/>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6" name="Footer Placeholder 5">
            <a:extLst>
              <a:ext uri="{FF2B5EF4-FFF2-40B4-BE49-F238E27FC236}">
                <a16:creationId xmlns:a16="http://schemas.microsoft.com/office/drawing/2014/main" id="{1923C0BB-D797-7847-3CFD-9FE3D97F0E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493BB9-2C76-E87A-F3E1-46BC6B30721F}"/>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20941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1BCD8-F2CD-67A4-47AC-1310688CE8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6964FC-15A1-B5CE-1DFA-50B30A1609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5E8905-91E1-3A05-A948-F8C842C47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F15F9B-3373-7098-8725-BFFF68FF51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54502D-CD2D-F68F-544B-51E921599F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1E0F97-ABCB-15CC-C70C-1376842BE974}"/>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8" name="Footer Placeholder 7">
            <a:extLst>
              <a:ext uri="{FF2B5EF4-FFF2-40B4-BE49-F238E27FC236}">
                <a16:creationId xmlns:a16="http://schemas.microsoft.com/office/drawing/2014/main" id="{FB8970F2-547A-9B5B-8FC3-634264445E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29042B-A01C-86E5-9B61-ACCC374923CD}"/>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735388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64584-9014-D0D2-C775-90C6F12533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536A0D5-2D07-6C18-384E-FD03D4DCCCFC}"/>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4" name="Footer Placeholder 3">
            <a:extLst>
              <a:ext uri="{FF2B5EF4-FFF2-40B4-BE49-F238E27FC236}">
                <a16:creationId xmlns:a16="http://schemas.microsoft.com/office/drawing/2014/main" id="{C9549DB3-A0AB-1DE9-B10A-BE00466CBD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EE790E-E7D2-9CC1-DAFA-285B79613510}"/>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1097824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79E42F-8541-86AF-C0DD-06BE08FC10BF}"/>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3" name="Footer Placeholder 2">
            <a:extLst>
              <a:ext uri="{FF2B5EF4-FFF2-40B4-BE49-F238E27FC236}">
                <a16:creationId xmlns:a16="http://schemas.microsoft.com/office/drawing/2014/main" id="{2712DEAC-C6AF-2621-F1FE-677D47CDF1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131C84-7180-CF56-1206-E72D8ED4E462}"/>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4102494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41E8-454A-F34A-57B4-6ABB9836A4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9C60E6-6EEB-373C-1176-076A69127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603738-96CC-3326-C7E1-1F3D9B860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DAF051-2DFC-9B70-2573-9D69A8929E79}"/>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6" name="Footer Placeholder 5">
            <a:extLst>
              <a:ext uri="{FF2B5EF4-FFF2-40B4-BE49-F238E27FC236}">
                <a16:creationId xmlns:a16="http://schemas.microsoft.com/office/drawing/2014/main" id="{D9D19CB6-DC07-8AC5-9325-93C2EAE216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A6E056-ABAB-FFB2-2AE1-665EDDBB43E1}"/>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171388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0EC05-85FE-C12C-0BEE-E40EAABB8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D7CE4B-0206-0574-EDFD-831574CE9D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DB89D6-DAD0-5179-D379-0EE530881C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123F35-7314-8E04-A74D-6A3F123C790F}"/>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6" name="Footer Placeholder 5">
            <a:extLst>
              <a:ext uri="{FF2B5EF4-FFF2-40B4-BE49-F238E27FC236}">
                <a16:creationId xmlns:a16="http://schemas.microsoft.com/office/drawing/2014/main" id="{D5365FB2-E1CB-40A4-9D2E-35A69B6BCB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B519F5-2920-D92D-DC61-38D75E8384A6}"/>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2661028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C9A1-E81B-C274-DCAC-F60FE4464C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C85C05-69DF-FCEE-4F84-BB3AFA4B36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E29F2E-6847-E06A-0025-4943BE7D14B3}"/>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5" name="Footer Placeholder 4">
            <a:extLst>
              <a:ext uri="{FF2B5EF4-FFF2-40B4-BE49-F238E27FC236}">
                <a16:creationId xmlns:a16="http://schemas.microsoft.com/office/drawing/2014/main" id="{0ECDF906-6D72-D4BB-7071-07E6B29F6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7BA6AB-0681-3367-F119-7C7DFB16CC7C}"/>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2472044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B4991D-8307-DF0A-49C1-E8F2F643CD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A40F2D-4255-BBAA-37CB-CC2A0BFE3A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C8B52F-D2B6-85BD-D759-1AAC104BAFB1}"/>
              </a:ext>
            </a:extLst>
          </p:cNvPr>
          <p:cNvSpPr>
            <a:spLocks noGrp="1"/>
          </p:cNvSpPr>
          <p:nvPr>
            <p:ph type="dt" sz="half" idx="10"/>
          </p:nvPr>
        </p:nvSpPr>
        <p:spPr/>
        <p:txBody>
          <a:bodyPr/>
          <a:lstStyle/>
          <a:p>
            <a:fld id="{ACF9450A-B172-4AE8-815A-9B408408B68C}" type="datetimeFigureOut">
              <a:rPr lang="en-IN" smtClean="0"/>
              <a:t>18-04-2026</a:t>
            </a:fld>
            <a:endParaRPr lang="en-IN"/>
          </a:p>
        </p:txBody>
      </p:sp>
      <p:sp>
        <p:nvSpPr>
          <p:cNvPr id="5" name="Footer Placeholder 4">
            <a:extLst>
              <a:ext uri="{FF2B5EF4-FFF2-40B4-BE49-F238E27FC236}">
                <a16:creationId xmlns:a16="http://schemas.microsoft.com/office/drawing/2014/main" id="{348C169C-5FB4-CA4D-0F1A-EA7C8D9601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0FFB93-9FB6-73EE-0551-08E7787DEBB5}"/>
              </a:ext>
            </a:extLst>
          </p:cNvPr>
          <p:cNvSpPr>
            <a:spLocks noGrp="1"/>
          </p:cNvSpPr>
          <p:nvPr>
            <p:ph type="sldNum" sz="quarter" idx="12"/>
          </p:nvPr>
        </p:nvSpPr>
        <p:spPr/>
        <p:txBody>
          <a:bodyPr/>
          <a:lstStyle/>
          <a:p>
            <a:fld id="{9886D7AC-8D94-485E-93FA-C67CCC6BC2D2}" type="slidenum">
              <a:rPr lang="en-IN" smtClean="0"/>
              <a:t>‹#›</a:t>
            </a:fld>
            <a:endParaRPr lang="en-IN"/>
          </a:p>
        </p:txBody>
      </p:sp>
    </p:spTree>
    <p:extLst>
      <p:ext uri="{BB962C8B-B14F-4D97-AF65-F5344CB8AC3E}">
        <p14:creationId xmlns:p14="http://schemas.microsoft.com/office/powerpoint/2010/main" val="303032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E3DE0A-DF15-34B4-4440-0043BB1F15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D21AA0-890E-333B-C1E8-9E1CDA5A1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A42D38-DDEC-BC6A-536B-866754BA33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F9450A-B172-4AE8-815A-9B408408B68C}" type="datetimeFigureOut">
              <a:rPr lang="en-IN" smtClean="0"/>
              <a:t>18-04-2026</a:t>
            </a:fld>
            <a:endParaRPr lang="en-IN"/>
          </a:p>
        </p:txBody>
      </p:sp>
      <p:sp>
        <p:nvSpPr>
          <p:cNvPr id="5" name="Footer Placeholder 4">
            <a:extLst>
              <a:ext uri="{FF2B5EF4-FFF2-40B4-BE49-F238E27FC236}">
                <a16:creationId xmlns:a16="http://schemas.microsoft.com/office/drawing/2014/main" id="{F617B3DA-8D31-4CB4-2A55-D40D5D001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38F4B5-4A94-2201-E5D4-F722E2967A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6D7AC-8D94-485E-93FA-C67CCC6BC2D2}" type="slidenum">
              <a:rPr lang="en-IN" smtClean="0"/>
              <a:t>‹#›</a:t>
            </a:fld>
            <a:endParaRPr lang="en-IN"/>
          </a:p>
        </p:txBody>
      </p:sp>
    </p:spTree>
    <p:extLst>
      <p:ext uri="{BB962C8B-B14F-4D97-AF65-F5344CB8AC3E}">
        <p14:creationId xmlns:p14="http://schemas.microsoft.com/office/powerpoint/2010/main" val="1460505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B65C-2228-3D34-77D4-02087EF892C0}"/>
              </a:ext>
            </a:extLst>
          </p:cNvPr>
          <p:cNvSpPr>
            <a:spLocks noGrp="1"/>
          </p:cNvSpPr>
          <p:nvPr>
            <p:ph type="ctrTitle"/>
          </p:nvPr>
        </p:nvSpPr>
        <p:spPr>
          <a:xfrm>
            <a:off x="2191407" y="299545"/>
            <a:ext cx="9270124" cy="1300655"/>
          </a:xfrm>
        </p:spPr>
        <p:txBody>
          <a:bodyPr>
            <a:normAutofit/>
          </a:bodyPr>
          <a:lstStyle/>
          <a:p>
            <a:r>
              <a:rPr lang="en-US" sz="2800" b="1" dirty="0">
                <a:solidFill>
                  <a:srgbClr val="C00000"/>
                </a:solidFill>
              </a:rPr>
              <a:t>MALLA REDDY ENGINEERING COLLEGE FOR WOMEN </a:t>
            </a:r>
            <a:br>
              <a:rPr lang="en-US" sz="2800" b="1" dirty="0">
                <a:solidFill>
                  <a:srgbClr val="FF0000"/>
                </a:solidFill>
              </a:rPr>
            </a:br>
            <a:r>
              <a:rPr lang="en-US" sz="1400" b="1" dirty="0"/>
              <a:t>( </a:t>
            </a:r>
            <a:r>
              <a:rPr lang="en-US" sz="1400" b="1" dirty="0">
                <a:latin typeface="Times New Roman" panose="02020603050405020304" pitchFamily="18" charset="0"/>
                <a:cs typeface="Times New Roman" panose="02020603050405020304" pitchFamily="18" charset="0"/>
              </a:rPr>
              <a:t>Autonomous Institution-UGC ,Govt . of India)</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Accredited by Innovation By NBA &amp; NACC with’ A +’ Grade</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National Ranking by NIRF Innovation Rank Band(151-300).Accepted by MHRD, Govt . of India </a:t>
            </a:r>
            <a:br>
              <a:rPr lang="en-US" sz="14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Maisammaguda,Dhulapally,Secunderabad,kompally-500100</a:t>
            </a:r>
            <a:endParaRPr lang="en-IN" sz="1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0233D90-0CDB-B960-2903-974B44B127FA}"/>
              </a:ext>
            </a:extLst>
          </p:cNvPr>
          <p:cNvSpPr>
            <a:spLocks noGrp="1"/>
          </p:cNvSpPr>
          <p:nvPr>
            <p:ph type="subTitle" idx="1"/>
          </p:nvPr>
        </p:nvSpPr>
        <p:spPr>
          <a:xfrm>
            <a:off x="1524000" y="2238703"/>
            <a:ext cx="9144000" cy="3019097"/>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REAL-TIME PROJECT </a:t>
            </a:r>
          </a:p>
          <a:p>
            <a:r>
              <a:rPr lang="en-US" b="1" dirty="0">
                <a:latin typeface="Times New Roman" panose="02020603050405020304" pitchFamily="18" charset="0"/>
                <a:cs typeface="Times New Roman" panose="02020603050405020304" pitchFamily="18" charset="0"/>
              </a:rPr>
              <a:t>ON</a:t>
            </a:r>
          </a:p>
          <a:p>
            <a:r>
              <a:rPr lang="en-US" b="1" dirty="0">
                <a:solidFill>
                  <a:srgbClr val="00B0F0"/>
                </a:solidFill>
                <a:latin typeface="Times New Roman" panose="02020603050405020304" pitchFamily="18" charset="0"/>
                <a:cs typeface="Times New Roman" panose="02020603050405020304" pitchFamily="18" charset="0"/>
              </a:rPr>
              <a:t>SMART COW HEALTH MONITORING SYSTEM</a:t>
            </a:r>
          </a:p>
          <a:p>
            <a:r>
              <a:rPr lang="en-US" dirty="0"/>
              <a:t>                                          </a:t>
            </a:r>
          </a:p>
          <a:p>
            <a:r>
              <a:rPr lang="en-US" dirty="0"/>
              <a:t>                                                    </a:t>
            </a:r>
            <a:r>
              <a:rPr lang="en-US" dirty="0">
                <a:solidFill>
                  <a:srgbClr val="C00000"/>
                </a:solidFill>
                <a:latin typeface="Times New Roman" panose="02020603050405020304" pitchFamily="18" charset="0"/>
                <a:cs typeface="Times New Roman" panose="02020603050405020304" pitchFamily="18" charset="0"/>
              </a:rPr>
              <a:t>Presented by:</a:t>
            </a:r>
          </a:p>
          <a:p>
            <a:r>
              <a:rPr lang="en-US" sz="18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A. SWAPNA (25RH5A0401)</a:t>
            </a:r>
          </a:p>
          <a:p>
            <a:r>
              <a:rPr lang="en-US" sz="1500" dirty="0">
                <a:latin typeface="Times New Roman" panose="02020603050405020304" pitchFamily="18" charset="0"/>
                <a:cs typeface="Times New Roman" panose="02020603050405020304" pitchFamily="18" charset="0"/>
              </a:rPr>
              <a:t>                                                                               B</a:t>
            </a: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SHREYA</a:t>
            </a:r>
            <a:r>
              <a:rPr lang="en-US" sz="1500" b="1"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25RH5A0403</a:t>
            </a:r>
            <a:r>
              <a:rPr lang="en-US" sz="1500" b="1"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                                                                               K. ITHIGNA (25RH5A0407)</a:t>
            </a:r>
          </a:p>
          <a:p>
            <a:endParaRPr lang="en-IN" dirty="0"/>
          </a:p>
        </p:txBody>
      </p:sp>
      <p:pic>
        <p:nvPicPr>
          <p:cNvPr id="11" name="Picture 10">
            <a:extLst>
              <a:ext uri="{FF2B5EF4-FFF2-40B4-BE49-F238E27FC236}">
                <a16:creationId xmlns:a16="http://schemas.microsoft.com/office/drawing/2014/main" id="{900E21B1-69FA-2897-9C48-18364202F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015" y="299545"/>
            <a:ext cx="1844566" cy="1655824"/>
          </a:xfrm>
          <a:prstGeom prst="rect">
            <a:avLst/>
          </a:prstGeom>
        </p:spPr>
      </p:pic>
    </p:spTree>
    <p:extLst>
      <p:ext uri="{BB962C8B-B14F-4D97-AF65-F5344CB8AC3E}">
        <p14:creationId xmlns:p14="http://schemas.microsoft.com/office/powerpoint/2010/main" val="424424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A17D6-AB6E-763F-BCAC-5A01402BD9A8}"/>
              </a:ext>
            </a:extLst>
          </p:cNvPr>
          <p:cNvSpPr>
            <a:spLocks noGrp="1"/>
          </p:cNvSpPr>
          <p:nvPr>
            <p:ph type="ctrTitle"/>
          </p:nvPr>
        </p:nvSpPr>
        <p:spPr>
          <a:xfrm>
            <a:off x="867103" y="599091"/>
            <a:ext cx="3578773" cy="1001109"/>
          </a:xfrm>
        </p:spPr>
        <p:txBody>
          <a:bodyPr>
            <a:normAutofit/>
          </a:bodyPr>
          <a:lstStyle/>
          <a:p>
            <a:pPr algn="l"/>
            <a:r>
              <a:rPr lang="en-US" sz="3600" b="1" dirty="0">
                <a:latin typeface="Times New Roman" panose="02020603050405020304" pitchFamily="18" charset="0"/>
                <a:cs typeface="Times New Roman" panose="02020603050405020304" pitchFamily="18" charset="0"/>
              </a:rPr>
              <a:t>CONTENTS</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1F7183B-73B1-4779-410D-5BF990FEFA26}"/>
              </a:ext>
            </a:extLst>
          </p:cNvPr>
          <p:cNvSpPr>
            <a:spLocks noGrp="1"/>
          </p:cNvSpPr>
          <p:nvPr>
            <p:ph type="subTitle" idx="1"/>
          </p:nvPr>
        </p:nvSpPr>
        <p:spPr>
          <a:xfrm>
            <a:off x="551793" y="2128345"/>
            <a:ext cx="5544207" cy="3129455"/>
          </a:xfrm>
        </p:spPr>
        <p:txBody>
          <a:bodyPr>
            <a:noAutofit/>
          </a:bodyPr>
          <a:lstStyle/>
          <a:p>
            <a:pPr marL="342900" indent="-342900" algn="l">
              <a:buFont typeface="Wingdings" panose="05000000000000000000" pitchFamily="2" charset="2"/>
              <a:buChar char="Ø"/>
            </a:pPr>
            <a:r>
              <a:rPr lang="en-IN" sz="2800" dirty="0"/>
              <a:t>Abstract </a:t>
            </a:r>
          </a:p>
          <a:p>
            <a:pPr marL="342900" indent="-342900" algn="l">
              <a:buFont typeface="Wingdings" panose="05000000000000000000" pitchFamily="2" charset="2"/>
              <a:buChar char="Ø"/>
            </a:pPr>
            <a:r>
              <a:rPr lang="en-IN" sz="2800" dirty="0"/>
              <a:t>Introduction </a:t>
            </a:r>
          </a:p>
          <a:p>
            <a:pPr marL="342900" indent="-342900" algn="l">
              <a:buFont typeface="Wingdings" panose="05000000000000000000" pitchFamily="2" charset="2"/>
              <a:buChar char="Ø"/>
            </a:pPr>
            <a:r>
              <a:rPr lang="en-IN" sz="2800" dirty="0"/>
              <a:t>Method</a:t>
            </a:r>
          </a:p>
          <a:p>
            <a:pPr marL="342900" indent="-342900" algn="l">
              <a:buFont typeface="Wingdings" panose="05000000000000000000" pitchFamily="2" charset="2"/>
              <a:buChar char="Ø"/>
            </a:pPr>
            <a:r>
              <a:rPr lang="en-IN" sz="2800" dirty="0"/>
              <a:t>Block diagram  </a:t>
            </a:r>
          </a:p>
          <a:p>
            <a:pPr marL="342900" indent="-342900" algn="l">
              <a:buFont typeface="Wingdings" panose="05000000000000000000" pitchFamily="2" charset="2"/>
              <a:buChar char="Ø"/>
            </a:pPr>
            <a:r>
              <a:rPr lang="en-IN" sz="2800" dirty="0"/>
              <a:t>implementation </a:t>
            </a:r>
          </a:p>
          <a:p>
            <a:pPr marL="342900" indent="-342900" algn="l">
              <a:buFont typeface="Wingdings" panose="05000000000000000000" pitchFamily="2" charset="2"/>
              <a:buChar char="Ø"/>
            </a:pPr>
            <a:r>
              <a:rPr lang="en-IN" sz="2800" dirty="0"/>
              <a:t>Application </a:t>
            </a:r>
          </a:p>
          <a:p>
            <a:pPr marL="342900" indent="-342900" algn="l">
              <a:buFont typeface="Wingdings" panose="05000000000000000000" pitchFamily="2" charset="2"/>
              <a:buChar char="Ø"/>
            </a:pPr>
            <a:r>
              <a:rPr lang="en-IN" sz="2800" dirty="0"/>
              <a:t>Conclusion</a:t>
            </a:r>
          </a:p>
        </p:txBody>
      </p:sp>
    </p:spTree>
    <p:extLst>
      <p:ext uri="{BB962C8B-B14F-4D97-AF65-F5344CB8AC3E}">
        <p14:creationId xmlns:p14="http://schemas.microsoft.com/office/powerpoint/2010/main" val="313054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0E4A-AF1D-3002-B9CB-134DD7F2F88F}"/>
              </a:ext>
            </a:extLst>
          </p:cNvPr>
          <p:cNvSpPr>
            <a:spLocks noGrp="1"/>
          </p:cNvSpPr>
          <p:nvPr>
            <p:ph type="title"/>
          </p:nvPr>
        </p:nvSpPr>
        <p:spPr>
          <a:xfrm>
            <a:off x="839789" y="457200"/>
            <a:ext cx="3653384" cy="961697"/>
          </a:xfrm>
        </p:spPr>
        <p:txBody>
          <a:bodyPr>
            <a:normAutofit/>
          </a:bodyPr>
          <a:lstStyle/>
          <a:p>
            <a:r>
              <a:rPr lang="en-US" sz="3600" b="1" dirty="0">
                <a:latin typeface="Times New Roman" panose="02020603050405020304" pitchFamily="18" charset="0"/>
                <a:cs typeface="Times New Roman" panose="02020603050405020304" pitchFamily="18" charset="0"/>
              </a:rPr>
              <a:t>ABSTRACT</a:t>
            </a:r>
            <a:endParaRPr lang="en-IN" sz="3600" b="1" dirty="0">
              <a:latin typeface="Times New Roman" panose="02020603050405020304" pitchFamily="18" charset="0"/>
              <a:cs typeface="Times New Roman" panose="02020603050405020304" pitchFamily="18" charset="0"/>
            </a:endParaRPr>
          </a:p>
        </p:txBody>
      </p:sp>
      <p:pic>
        <p:nvPicPr>
          <p:cNvPr id="6" name="Picture Placeholder 5">
            <a:extLst>
              <a:ext uri="{FF2B5EF4-FFF2-40B4-BE49-F238E27FC236}">
                <a16:creationId xmlns:a16="http://schemas.microsoft.com/office/drawing/2014/main" id="{E7FC4B6F-87CC-E62F-1A76-45833FBBABC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8834" b="8834"/>
          <a:stretch>
            <a:fillRect/>
          </a:stretch>
        </p:blipFill>
        <p:spPr>
          <a:xfrm>
            <a:off x="8308428" y="1663700"/>
            <a:ext cx="3046960" cy="3227817"/>
          </a:xfrm>
        </p:spPr>
      </p:pic>
      <p:sp>
        <p:nvSpPr>
          <p:cNvPr id="4" name="Text Placeholder 3">
            <a:extLst>
              <a:ext uri="{FF2B5EF4-FFF2-40B4-BE49-F238E27FC236}">
                <a16:creationId xmlns:a16="http://schemas.microsoft.com/office/drawing/2014/main" id="{E6DBFD85-F6B7-46CC-2EA6-365CA035A848}"/>
              </a:ext>
            </a:extLst>
          </p:cNvPr>
          <p:cNvSpPr>
            <a:spLocks noGrp="1"/>
          </p:cNvSpPr>
          <p:nvPr>
            <p:ph type="body" sz="half" idx="2"/>
          </p:nvPr>
        </p:nvSpPr>
        <p:spPr>
          <a:xfrm>
            <a:off x="677918" y="1671145"/>
            <a:ext cx="6653048" cy="4197843"/>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The Smart Cow Health Monitoring System is an advanced technological solution designed to improve livestock management by continuously tracking the health and well-being of cows. This system integrates wearable sensors, and data analytics to monitor vital parameters such as body temperature, heart </a:t>
            </a:r>
            <a:r>
              <a:rPr lang="en-US" dirty="0" err="1">
                <a:latin typeface="Times New Roman" panose="02020603050405020304" pitchFamily="18" charset="0"/>
                <a:cs typeface="Times New Roman" panose="02020603050405020304" pitchFamily="18" charset="0"/>
              </a:rPr>
              <a:t>ratein</a:t>
            </a:r>
            <a:r>
              <a:rPr lang="en-US" dirty="0">
                <a:latin typeface="Times New Roman" panose="02020603050405020304" pitchFamily="18" charset="0"/>
                <a:cs typeface="Times New Roman" panose="02020603050405020304" pitchFamily="18" charset="0"/>
              </a:rPr>
              <a:t> real-time.</a:t>
            </a:r>
          </a:p>
          <a:p>
            <a:pPr algn="just">
              <a:lnSpc>
                <a:spcPct val="150000"/>
              </a:lnSpc>
            </a:pPr>
            <a:r>
              <a:rPr lang="en-US" dirty="0">
                <a:latin typeface="Times New Roman" panose="02020603050405020304" pitchFamily="18" charset="0"/>
                <a:cs typeface="Times New Roman" panose="02020603050405020304" pitchFamily="18" charset="0"/>
              </a:rPr>
              <a:t>The collected data is transmitted to a centralized platform where it is analyzed to detect early signs of diseases, stress, or abnormal behavior.  enabling timely intervention and reducing the risk of severe health issues.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893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EB655-C13D-AF05-98B3-064BEF4FF0DD}"/>
              </a:ext>
            </a:extLst>
          </p:cNvPr>
          <p:cNvSpPr>
            <a:spLocks noGrp="1"/>
          </p:cNvSpPr>
          <p:nvPr>
            <p:ph type="title"/>
          </p:nvPr>
        </p:nvSpPr>
        <p:spPr>
          <a:xfrm>
            <a:off x="839788" y="0"/>
            <a:ext cx="3932237" cy="1592317"/>
          </a:xfrm>
        </p:spPr>
        <p:txBody>
          <a:bodyPr>
            <a:normAutofit/>
          </a:bodyPr>
          <a:lstStyle/>
          <a:p>
            <a:r>
              <a:rPr lang="en-US" sz="3600" b="1"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E47D6162-E861-2C45-BF88-DBA60F0F13C1}"/>
              </a:ext>
            </a:extLst>
          </p:cNvPr>
          <p:cNvSpPr>
            <a:spLocks noGrp="1" noChangeArrowheads="1"/>
          </p:cNvSpPr>
          <p:nvPr>
            <p:ph type="body" sz="half" idx="2"/>
          </p:nvPr>
        </p:nvSpPr>
        <p:spPr bwMode="auto">
          <a:xfrm>
            <a:off x="441434" y="2033897"/>
            <a:ext cx="5785945" cy="322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cow health monitoring system uses </a:t>
            </a:r>
          </a:p>
          <a:p>
            <a:pPr marR="0" lvl="0" algn="just" defTabSz="914400" rtl="0" eaLnBrk="0" fontAlgn="base" latinLnBrk="0" hangingPunct="0">
              <a:lnSpc>
                <a:spcPct val="150000"/>
              </a:lnSpc>
              <a:spcBef>
                <a:spcPct val="0"/>
              </a:spcBef>
              <a:spcAft>
                <a:spcPct val="0"/>
              </a:spcAft>
              <a:buClrTx/>
              <a:buSzTx/>
              <a:tabLst/>
            </a:pPr>
            <a:r>
              <a:rPr lang="en-US" altLang="en-US" sz="1800"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modern technology to monitor cow health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sensors like temperature and heart rate sensors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real-time health data from the cow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is processed using Node MCU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Sends data to cloud for remote monitoring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in early disease detection  </a:t>
            </a:r>
          </a:p>
        </p:txBody>
      </p:sp>
      <p:pic>
        <p:nvPicPr>
          <p:cNvPr id="11" name="Picture Placeholder 10">
            <a:extLst>
              <a:ext uri="{FF2B5EF4-FFF2-40B4-BE49-F238E27FC236}">
                <a16:creationId xmlns:a16="http://schemas.microsoft.com/office/drawing/2014/main" id="{5A99C5A5-43AC-A926-F96F-9FE76897302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006" b="1006"/>
          <a:stretch>
            <a:fillRect/>
          </a:stretch>
        </p:blipFill>
        <p:spPr>
          <a:xfrm>
            <a:off x="6096001" y="1892181"/>
            <a:ext cx="5050220" cy="3499626"/>
          </a:xfrm>
        </p:spPr>
      </p:pic>
    </p:spTree>
    <p:extLst>
      <p:ext uri="{BB962C8B-B14F-4D97-AF65-F5344CB8AC3E}">
        <p14:creationId xmlns:p14="http://schemas.microsoft.com/office/powerpoint/2010/main" val="1409519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9D053-F1A1-ACA8-1A2A-233D79B3D1E6}"/>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METHOD</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6DBA50-FF1B-4F67-5E73-D6A7BB87B8C4}"/>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Collect health data using temperature, heart rate, and accelerometer sensors </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Send sensor data to Node MCU </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Process data in Node MCU using programmed logic </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Compare values with predefined threshold limits </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Display real-time data on OLED display </a:t>
            </a: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490892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4532-B4A0-D6A2-1464-04F481A56924}"/>
              </a:ext>
            </a:extLst>
          </p:cNvPr>
          <p:cNvSpPr>
            <a:spLocks noGrp="1"/>
          </p:cNvSpPr>
          <p:nvPr>
            <p:ph type="title"/>
          </p:nvPr>
        </p:nvSpPr>
        <p:spPr>
          <a:xfrm>
            <a:off x="839788" y="457200"/>
            <a:ext cx="4394364" cy="867103"/>
          </a:xfrm>
        </p:spPr>
        <p:txBody>
          <a:bodyPr>
            <a:normAutofit/>
          </a:bodyPr>
          <a:lstStyle/>
          <a:p>
            <a:r>
              <a:rPr lang="en-US" sz="3600" b="1" dirty="0">
                <a:latin typeface="Times New Roman" panose="02020603050405020304" pitchFamily="18" charset="0"/>
                <a:cs typeface="Times New Roman" panose="02020603050405020304" pitchFamily="18" charset="0"/>
              </a:rPr>
              <a:t>BLOCK DIAGRAM</a:t>
            </a:r>
            <a:endParaRPr lang="en-IN" sz="36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19C623C1-48B6-AD63-EFB4-10CD1283E271}"/>
              </a:ext>
            </a:extLst>
          </p:cNvPr>
          <p:cNvSpPr>
            <a:spLocks noGrp="1" noChangeArrowheads="1"/>
          </p:cNvSpPr>
          <p:nvPr>
            <p:ph type="body" sz="half" idx="2"/>
          </p:nvPr>
        </p:nvSpPr>
        <p:spPr bwMode="auto">
          <a:xfrm>
            <a:off x="346130" y="1682821"/>
            <a:ext cx="5187566" cy="4468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 provides energy to all components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Temperature sensor measures cow body temperature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Heart rate sensor monitors pulse rate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Accelerometer detects movement and activity of the cow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sensor data is sent to Node MCU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 MCU processes and analyzes the data </a:t>
            </a:r>
          </a:p>
        </p:txBody>
      </p:sp>
      <p:pic>
        <p:nvPicPr>
          <p:cNvPr id="11" name="Picture Placeholder 10">
            <a:extLst>
              <a:ext uri="{FF2B5EF4-FFF2-40B4-BE49-F238E27FC236}">
                <a16:creationId xmlns:a16="http://schemas.microsoft.com/office/drawing/2014/main" id="{A90114C9-558F-A776-B658-11C91BF29B0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7785" r="7785"/>
          <a:stretch>
            <a:fillRect/>
          </a:stretch>
        </p:blipFill>
        <p:spPr>
          <a:xfrm>
            <a:off x="5889354" y="1545020"/>
            <a:ext cx="5466033" cy="4316029"/>
          </a:xfrm>
        </p:spPr>
      </p:pic>
    </p:spTree>
    <p:extLst>
      <p:ext uri="{BB962C8B-B14F-4D97-AF65-F5344CB8AC3E}">
        <p14:creationId xmlns:p14="http://schemas.microsoft.com/office/powerpoint/2010/main" val="1855664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2382-49E5-E69E-08ED-AAEBAC0B6A74}"/>
              </a:ext>
            </a:extLst>
          </p:cNvPr>
          <p:cNvSpPr>
            <a:spLocks noGrp="1"/>
          </p:cNvSpPr>
          <p:nvPr>
            <p:ph type="title"/>
          </p:nvPr>
        </p:nvSpPr>
        <p:spPr>
          <a:xfrm>
            <a:off x="1131450" y="374157"/>
            <a:ext cx="4961922" cy="1229710"/>
          </a:xfrm>
        </p:spPr>
        <p:txBody>
          <a:bodyPr>
            <a:normAutofit/>
          </a:bodyPr>
          <a:lstStyle/>
          <a:p>
            <a:r>
              <a:rPr lang="en-US" sz="3600" b="1" dirty="0">
                <a:latin typeface="Times New Roman" panose="02020603050405020304" pitchFamily="18" charset="0"/>
                <a:cs typeface="Times New Roman" panose="02020603050405020304" pitchFamily="18" charset="0"/>
              </a:rPr>
              <a:t>IMPLEMENTATION</a:t>
            </a:r>
            <a:endParaRPr lang="en-IN" sz="3600" b="1" dirty="0">
              <a:latin typeface="Times New Roman" panose="02020603050405020304" pitchFamily="18" charset="0"/>
              <a:cs typeface="Times New Roman" panose="02020603050405020304" pitchFamily="18" charset="0"/>
            </a:endParaRPr>
          </a:p>
        </p:txBody>
      </p:sp>
      <p:pic>
        <p:nvPicPr>
          <p:cNvPr id="6" name="Picture Placeholder 5">
            <a:extLst>
              <a:ext uri="{FF2B5EF4-FFF2-40B4-BE49-F238E27FC236}">
                <a16:creationId xmlns:a16="http://schemas.microsoft.com/office/drawing/2014/main" id="{E2C01A7A-A872-05F4-2FE9-899602BC9257}"/>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8344" b="18344"/>
          <a:stretch>
            <a:fillRect/>
          </a:stretch>
        </p:blipFill>
        <p:spPr>
          <a:xfrm>
            <a:off x="7419975" y="1907628"/>
            <a:ext cx="4171950" cy="4039147"/>
          </a:xfrm>
        </p:spPr>
      </p:pic>
      <p:sp>
        <p:nvSpPr>
          <p:cNvPr id="4" name="Text Placeholder 3">
            <a:extLst>
              <a:ext uri="{FF2B5EF4-FFF2-40B4-BE49-F238E27FC236}">
                <a16:creationId xmlns:a16="http://schemas.microsoft.com/office/drawing/2014/main" id="{BA0EE58D-6C27-125E-00DB-8B4EA1925DC0}"/>
              </a:ext>
            </a:extLst>
          </p:cNvPr>
          <p:cNvSpPr>
            <a:spLocks noGrp="1"/>
          </p:cNvSpPr>
          <p:nvPr>
            <p:ph type="body" sz="half" idx="2"/>
          </p:nvPr>
        </p:nvSpPr>
        <p:spPr>
          <a:xfrm>
            <a:off x="839787" y="1907627"/>
            <a:ext cx="6065509" cy="4039147"/>
          </a:xfrm>
        </p:spPr>
        <p:txBody>
          <a:bodyPr>
            <a:noAutofit/>
          </a:bodyPr>
          <a:lstStyle/>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Connect temperature, heart rate, and accelerometer sensors to </a:t>
            </a:r>
            <a:r>
              <a:rPr lang="en-US" sz="2000" dirty="0" err="1">
                <a:latin typeface="Times New Roman" panose="02020603050405020304" pitchFamily="18" charset="0"/>
                <a:cs typeface="Times New Roman" panose="02020603050405020304" pitchFamily="18" charset="0"/>
              </a:rPr>
              <a:t>NodeMCU</a:t>
            </a:r>
            <a:r>
              <a:rPr lang="en-US" sz="20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Interface OLED display and buzzer with </a:t>
            </a:r>
            <a:r>
              <a:rPr lang="en-US" sz="2000" dirty="0" err="1">
                <a:latin typeface="Times New Roman" panose="02020603050405020304" pitchFamily="18" charset="0"/>
                <a:cs typeface="Times New Roman" panose="02020603050405020304" pitchFamily="18" charset="0"/>
              </a:rPr>
              <a:t>NodeMCU</a:t>
            </a:r>
            <a:r>
              <a:rPr lang="en-US" sz="2000" dirty="0">
                <a:latin typeface="Times New Roman" panose="02020603050405020304" pitchFamily="18" charset="0"/>
                <a:cs typeface="Times New Roman" panose="02020603050405020304" pitchFamily="18" charset="0"/>
              </a:rPr>
              <a:t> </a:t>
            </a:r>
          </a:p>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Provide power supply to all components  </a:t>
            </a:r>
          </a:p>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Write and upload code using Arduino IDE </a:t>
            </a:r>
          </a:p>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Read and collect data from sensors </a:t>
            </a:r>
          </a:p>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Process data and set threshold limits </a:t>
            </a:r>
          </a:p>
          <a:p>
            <a:pPr marL="285750" indent="-285750">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Display real-time data on OLED screen </a:t>
            </a:r>
          </a:p>
          <a:p>
            <a:pPr algn="just">
              <a:lnSpc>
                <a:spcPct val="150000"/>
              </a:lnSpc>
            </a:pPr>
            <a:r>
              <a:rPr lang="en-US" sz="2000" dirty="0">
                <a:latin typeface="Times New Roman" panose="02020603050405020304" pitchFamily="18" charset="0"/>
                <a:cs typeface="Times New Roman" panose="02020603050405020304" pitchFamily="18" charset="0"/>
              </a:rPr>
              <a:t> </a:t>
            </a:r>
          </a:p>
          <a:p>
            <a:endParaRPr lang="en-US" sz="1800" dirty="0"/>
          </a:p>
        </p:txBody>
      </p:sp>
    </p:spTree>
    <p:extLst>
      <p:ext uri="{BB962C8B-B14F-4D97-AF65-F5344CB8AC3E}">
        <p14:creationId xmlns:p14="http://schemas.microsoft.com/office/powerpoint/2010/main" val="3161306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E4C70-3326-9568-B9CF-3813436C9D33}"/>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ADVANTAGES</a:t>
            </a:r>
            <a:endParaRPr lang="en-IN" sz="36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BDF1B2D-0964-C183-5769-5B8BCF6846E5}"/>
              </a:ext>
            </a:extLst>
          </p:cNvPr>
          <p:cNvSpPr>
            <a:spLocks noGrp="1" noChangeArrowheads="1"/>
          </p:cNvSpPr>
          <p:nvPr>
            <p:ph idx="1"/>
          </p:nvPr>
        </p:nvSpPr>
        <p:spPr bwMode="auto">
          <a:xfrm>
            <a:off x="838200" y="1905304"/>
            <a:ext cx="5089634"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Continuous health monitoring </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disease detection </a:t>
            </a:r>
          </a:p>
          <a:p>
            <a:pPr marR="0" lvl="0" algn="l"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effort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tracking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monitoring capability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alert system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livestock productivity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 solution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implement and use </a:t>
            </a:r>
          </a:p>
        </p:txBody>
      </p:sp>
    </p:spTree>
    <p:extLst>
      <p:ext uri="{BB962C8B-B14F-4D97-AF65-F5344CB8AC3E}">
        <p14:creationId xmlns:p14="http://schemas.microsoft.com/office/powerpoint/2010/main" val="1405159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2D7A2-D399-441E-537D-35119E0304BA}"/>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APPLICATIONS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5902F8-15CC-068C-4D37-BBED5E8EAF5A}"/>
              </a:ext>
            </a:extLst>
          </p:cNvPr>
          <p:cNvSpPr>
            <a:spLocks noGrp="1"/>
          </p:cNvSpPr>
          <p:nvPr>
            <p:ph idx="1"/>
          </p:nvPr>
        </p:nvSpPr>
        <p:spPr/>
        <p:txBody>
          <a:bodyPr>
            <a:normAutofit fontScale="92500" lnSpcReduction="10000"/>
          </a:bodyPr>
          <a:lstStyle/>
          <a:p>
            <a:pPr>
              <a:lnSpc>
                <a:spcPct val="150000"/>
              </a:lnSpc>
            </a:pPr>
            <a:r>
              <a:rPr lang="en-US" sz="2400" dirty="0"/>
              <a:t>Livestock health monitoring </a:t>
            </a:r>
          </a:p>
          <a:p>
            <a:pPr>
              <a:lnSpc>
                <a:spcPct val="150000"/>
              </a:lnSpc>
            </a:pPr>
            <a:r>
              <a:rPr lang="en-US" sz="2400" dirty="0"/>
              <a:t>Early disease detection </a:t>
            </a:r>
          </a:p>
          <a:p>
            <a:pPr>
              <a:lnSpc>
                <a:spcPct val="150000"/>
              </a:lnSpc>
            </a:pPr>
            <a:r>
              <a:rPr lang="en-US" sz="2400" dirty="0"/>
              <a:t>Smart farming </a:t>
            </a:r>
          </a:p>
          <a:p>
            <a:pPr>
              <a:lnSpc>
                <a:spcPct val="150000"/>
              </a:lnSpc>
            </a:pPr>
            <a:r>
              <a:rPr lang="en-US" sz="2400" dirty="0"/>
              <a:t>Remote monitoring </a:t>
            </a:r>
          </a:p>
          <a:p>
            <a:pPr>
              <a:lnSpc>
                <a:spcPct val="150000"/>
              </a:lnSpc>
            </a:pPr>
            <a:r>
              <a:rPr lang="en-US" sz="2400" dirty="0"/>
              <a:t>Alert system </a:t>
            </a:r>
          </a:p>
          <a:p>
            <a:pPr>
              <a:lnSpc>
                <a:spcPct val="150000"/>
              </a:lnSpc>
            </a:pPr>
            <a:r>
              <a:rPr lang="en-US" sz="2400" dirty="0"/>
              <a:t>Veterinary support </a:t>
            </a:r>
          </a:p>
          <a:p>
            <a:pPr>
              <a:lnSpc>
                <a:spcPct val="150000"/>
              </a:lnSpc>
            </a:pPr>
            <a:r>
              <a:rPr lang="en-US" sz="2400" dirty="0"/>
              <a:t>Reduced manual work </a:t>
            </a:r>
          </a:p>
          <a:p>
            <a:endParaRPr lang="en-IN" dirty="0"/>
          </a:p>
        </p:txBody>
      </p:sp>
    </p:spTree>
    <p:extLst>
      <p:ext uri="{BB962C8B-B14F-4D97-AF65-F5344CB8AC3E}">
        <p14:creationId xmlns:p14="http://schemas.microsoft.com/office/powerpoint/2010/main" val="151123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A9FC4-148C-009E-387E-B6C3CFF03907}"/>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A7E8CD-B40F-B2D4-7361-448BFA4CF157}"/>
              </a:ext>
            </a:extLst>
          </p:cNvPr>
          <p:cNvSpPr>
            <a:spLocks noGrp="1"/>
          </p:cNvSpPr>
          <p:nvPr>
            <p:ph idx="1"/>
          </p:nvPr>
        </p:nvSpPr>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The smart cow health monitoring system provides an efficient and reliable solution for continuous monitoring of livestock health. By using sensors and </a:t>
            </a:r>
            <a:r>
              <a:rPr lang="en-US" sz="2000" dirty="0" err="1">
                <a:latin typeface="Times New Roman" panose="02020603050405020304" pitchFamily="18" charset="0"/>
                <a:cs typeface="Times New Roman" panose="02020603050405020304" pitchFamily="18" charset="0"/>
              </a:rPr>
              <a:t>NodeMCU</a:t>
            </a:r>
            <a:r>
              <a:rPr lang="en-US" sz="2000" dirty="0">
                <a:latin typeface="Times New Roman" panose="02020603050405020304" pitchFamily="18" charset="0"/>
                <a:cs typeface="Times New Roman" panose="02020603050405020304" pitchFamily="18" charset="0"/>
              </a:rPr>
              <a:t>, the system collects and processes vital data and sends it to the cloud for remote access. It helps in early detection of diseases, reduces manual effort, and ensures timely alerts through buzzer and indicators. Overall, this system improves animal health management, , and supports modern smart farming practices.</a:t>
            </a:r>
          </a:p>
          <a:p>
            <a:endParaRPr lang="en-IN" dirty="0"/>
          </a:p>
        </p:txBody>
      </p:sp>
    </p:spTree>
    <p:extLst>
      <p:ext uri="{BB962C8B-B14F-4D97-AF65-F5344CB8AC3E}">
        <p14:creationId xmlns:p14="http://schemas.microsoft.com/office/powerpoint/2010/main" val="1420330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FF4E-B4D0-7ED3-CE8D-591620E0ABA6}"/>
              </a:ext>
            </a:extLst>
          </p:cNvPr>
          <p:cNvSpPr>
            <a:spLocks noGrp="1"/>
          </p:cNvSpPr>
          <p:nvPr>
            <p:ph type="title"/>
          </p:nvPr>
        </p:nvSpPr>
        <p:spPr>
          <a:xfrm>
            <a:off x="838200" y="2144110"/>
            <a:ext cx="10515600" cy="2459421"/>
          </a:xfrm>
        </p:spPr>
        <p:txBody>
          <a:bodyPr>
            <a:normAutofit/>
          </a:bodyPr>
          <a:lstStyle/>
          <a:p>
            <a:r>
              <a:rPr lang="en-US" sz="6600" b="1" dirty="0">
                <a:latin typeface="Algerian" panose="04020705040A02060702" pitchFamily="82" charset="0"/>
              </a:rPr>
              <a:t>            </a:t>
            </a:r>
            <a:r>
              <a:rPr lang="en-US" sz="6600" b="1" dirty="0">
                <a:solidFill>
                  <a:schemeClr val="accent3">
                    <a:lumMod val="75000"/>
                  </a:schemeClr>
                </a:solidFill>
                <a:latin typeface="Algerian" panose="04020705040A02060702" pitchFamily="82" charset="0"/>
              </a:rPr>
              <a:t>THANK YOU</a:t>
            </a:r>
            <a:endParaRPr lang="en-IN" sz="6600" b="1" dirty="0">
              <a:solidFill>
                <a:schemeClr val="accent3">
                  <a:lumMod val="75000"/>
                </a:schemeClr>
              </a:solidFill>
              <a:latin typeface="Algerian" panose="04020705040A02060702" pitchFamily="82" charset="0"/>
            </a:endParaRPr>
          </a:p>
        </p:txBody>
      </p:sp>
    </p:spTree>
    <p:extLst>
      <p:ext uri="{BB962C8B-B14F-4D97-AF65-F5344CB8AC3E}">
        <p14:creationId xmlns:p14="http://schemas.microsoft.com/office/powerpoint/2010/main" val="2542322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501</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Algerian</vt:lpstr>
      <vt:lpstr>Arial</vt:lpstr>
      <vt:lpstr>Calibri</vt:lpstr>
      <vt:lpstr>Calibri Light</vt:lpstr>
      <vt:lpstr>Times New Roman</vt:lpstr>
      <vt:lpstr>Wingdings</vt:lpstr>
      <vt:lpstr>Office Theme</vt:lpstr>
      <vt:lpstr>MALLA REDDY ENGINEERING COLLEGE FOR WOMEN  ( Autonomous Institution-UGC ,Govt . of India) Accredited by Innovation By NBA &amp; NACC with’ A +’ Grade National Ranking by NIRF Innovation Rank Band(151-300).Accepted by MHRD, Govt . of India  Maisammaguda,Dhulapally,Secunderabad,kompally-500100</vt:lpstr>
      <vt:lpstr>CONTENTS</vt:lpstr>
      <vt:lpstr>ABSTRACT</vt:lpstr>
      <vt:lpstr>INTRODUCTION</vt:lpstr>
      <vt:lpstr>METHOD</vt:lpstr>
      <vt:lpstr>BLOCK DIAGRAM</vt:lpstr>
      <vt:lpstr>IMPLEMENTATION</vt:lpstr>
      <vt:lpstr>ADVANTAGES</vt:lpstr>
      <vt:lpstr>APPLICATIONS</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3</cp:revision>
  <dcterms:created xsi:type="dcterms:W3CDTF">2026-04-17T16:16:31Z</dcterms:created>
  <dcterms:modified xsi:type="dcterms:W3CDTF">2026-04-18T03:02:45Z</dcterms:modified>
</cp:coreProperties>
</file>